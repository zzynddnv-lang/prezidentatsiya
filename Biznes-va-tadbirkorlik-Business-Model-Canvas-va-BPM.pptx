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embeddedFontLst>
    <p:embeddedFont>
      <p:font typeface="Barlow"/>
      <p:regular r:id="rId201314"/>
    </p:embeddedFont>
    <p:embeddedFont>
      <p:font typeface="Barlow Bold"/>
      <p:regular r:id="rId201315"/>
    </p:embeddedFont>
    <p:embeddedFont>
      <p:font typeface="Spline Sans Bold"/>
      <p:regular r:id="rId2013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1" Type="http://schemas.openxmlformats.org/officeDocument/2006/relationships/image" Target="../media/image-1002-1.jpeg"/><Relationship Id="rId2" Type="http://schemas.openxmlformats.org/officeDocument/2006/relationships/image" Target="../media/image-1002-2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81B">
              <a:alpha val="75000"/>
            </a:srgbClr>
          </a:solidFill>
          <a:ln/>
        </p:spPr>
      </p:sp>
      <p:pic>
        <p:nvPicPr>
          <p:cNvPr id="4" name="Image 1" descr="preencoded.png">
            <a:hlinkClick r:id="rId3" tooltip="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6.png"/><Relationship Id="rId7" Type="http://schemas.openxmlformats.org/officeDocument/2006/relationships/image" Target="../media/image-2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svg"/><Relationship Id="rId4" Type="http://schemas.openxmlformats.org/officeDocument/2006/relationships/image" Target="../media/image-10-4.png"/><Relationship Id="rId5" Type="http://schemas.openxmlformats.org/officeDocument/2006/relationships/image" Target="../media/image-10-5.svg"/><Relationship Id="rId6" Type="http://schemas.openxmlformats.org/officeDocument/2006/relationships/image" Target="../media/image-10-6.png"/><Relationship Id="rId7" Type="http://schemas.openxmlformats.org/officeDocument/2006/relationships/image" Target="../media/image-10-7.svg"/><Relationship Id="rId8" Type="http://schemas.openxmlformats.org/officeDocument/2006/relationships/image" Target="../media/image-10-8.png"/><Relationship Id="rId9" Type="http://schemas.openxmlformats.org/officeDocument/2006/relationships/image" Target="../media/image-10-9.sv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0012" y="2252861"/>
            <a:ext cx="6179784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va tadbirkorlik, Business Model Canvas va BPM</a:t>
            </a:r>
            <a:endParaRPr lang="en-US" sz="3550" dirty="0"/>
          </a:p>
        </p:txBody>
      </p:sp>
      <p:sp>
        <p:nvSpPr>
          <p:cNvPr id="4" name="Text 1"/>
          <p:cNvSpPr/>
          <p:nvPr/>
        </p:nvSpPr>
        <p:spPr>
          <a:xfrm>
            <a:off x="720012" y="4275931"/>
            <a:ext cx="6789369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1-mashg'ulot — Talabalar uchun asosiy tushunchalar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91898" y="622002"/>
            <a:ext cx="6179784" cy="508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va Tadbirkorlik</a:t>
            </a:r>
            <a:endParaRPr lang="en-US" sz="32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91898" y="1559322"/>
            <a:ext cx="2866358" cy="138896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602048" y="1767880"/>
            <a:ext cx="2347655" cy="254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nima?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5602048" y="2185491"/>
            <a:ext cx="2347655" cy="554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Qonuniy tijorat faoliyati orqali daromad olish</a:t>
            </a:r>
            <a:endParaRPr lang="en-US" sz="14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1898" y="3111401"/>
            <a:ext cx="2866358" cy="138896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02048" y="3319959"/>
            <a:ext cx="2347655" cy="254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Tadbirkor kim?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5602048" y="3737570"/>
            <a:ext cx="2347655" cy="554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Biznes bilan shug'ullanuvchi shaxs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91898" y="4663480"/>
            <a:ext cx="2866358" cy="138896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602048" y="4872038"/>
            <a:ext cx="2347655" cy="254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Tadbirkorlik nima?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5602048" y="5289649"/>
            <a:ext cx="2347655" cy="554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Xavf-xatarni qabul qilib, yangi g'oyalarni amalga oshirish</a:t>
            </a:r>
            <a:endParaRPr lang="en-US" sz="1400" dirty="0"/>
          </a:p>
        </p:txBody>
      </p:sp>
      <p:sp>
        <p:nvSpPr>
          <p:cNvPr id="13" name="Shape 7"/>
          <p:cNvSpPr/>
          <p:nvPr/>
        </p:nvSpPr>
        <p:spPr>
          <a:xfrm>
            <a:off x="8611674" y="1559322"/>
            <a:ext cx="2866358" cy="1653381"/>
          </a:xfrm>
          <a:prstGeom prst="roundRect">
            <a:avLst>
              <a:gd name="adj" fmla="val 16623"/>
            </a:avLst>
          </a:prstGeom>
          <a:solidFill>
            <a:srgbClr val="0A081B"/>
          </a:solidFill>
          <a:ln w="19050">
            <a:solidFill>
              <a:srgbClr val="16FFBB"/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8813877" y="1761530"/>
            <a:ext cx="2461952" cy="254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Farqi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8813877" y="2179141"/>
            <a:ext cx="2461952" cy="831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Biznes</a:t>
            </a:r>
            <a:pPr algn="l"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faoliyat</a:t>
            </a:r>
            <a:endParaRPr lang="en-US" sz="14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Tadbirkorlik</a:t>
            </a:r>
            <a:pPr algn="l"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innovatsiya va tavakkalchilik bilan faoliyat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8611674" y="3375819"/>
            <a:ext cx="2866358" cy="1930499"/>
          </a:xfrm>
          <a:prstGeom prst="roundRect">
            <a:avLst>
              <a:gd name="adj" fmla="val 14237"/>
            </a:avLst>
          </a:prstGeom>
          <a:solidFill>
            <a:srgbClr val="0A081B"/>
          </a:solidFill>
          <a:ln w="19050">
            <a:solidFill>
              <a:srgbClr val="29DDDA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8813877" y="3578027"/>
            <a:ext cx="2461952" cy="254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Misol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813877" y="3995638"/>
            <a:ext cx="2461952" cy="1108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Dukonda sotish = </a:t>
            </a:r>
            <a:pPr algn="l"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biznes</a:t>
            </a:r>
            <a:endParaRPr lang="en-US" sz="1400" dirty="0"/>
          </a:p>
          <a:p>
            <a:pPr algn="l"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Yangi mahsulot yaratib, bozorga chiqarish = </a:t>
            </a:r>
            <a:pPr algn="l"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tadbirkorlik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1827907"/>
            <a:ext cx="1075167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Sohalari</a:t>
            </a:r>
            <a:endParaRPr lang="en-US" sz="35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12" y="2810867"/>
            <a:ext cx="1447069" cy="8943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0012" y="3962400"/>
            <a:ext cx="24949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Savdo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20012" y="4371578"/>
            <a:ext cx="2494991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Mahsulotlarni sotish — kiyim do'koni, bozor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173" y="2810867"/>
            <a:ext cx="1447069" cy="89435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72173" y="3962400"/>
            <a:ext cx="2495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Xizmat ko'rsatish</a:t>
            </a:r>
            <a:endParaRPr lang="en-US" sz="1750" dirty="0"/>
          </a:p>
        </p:txBody>
      </p:sp>
      <p:sp>
        <p:nvSpPr>
          <p:cNvPr id="8" name="Text 4"/>
          <p:cNvSpPr/>
          <p:nvPr/>
        </p:nvSpPr>
        <p:spPr>
          <a:xfrm>
            <a:off x="3472173" y="4371578"/>
            <a:ext cx="2495091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Odamlarga yordam berish — saloon, restoran, taksi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432" y="2810867"/>
            <a:ext cx="1447069" cy="89435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224432" y="3962400"/>
            <a:ext cx="24949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Ishlab chiqarish</a:t>
            </a:r>
            <a:endParaRPr lang="en-US" sz="1750" dirty="0"/>
          </a:p>
        </p:txBody>
      </p:sp>
      <p:sp>
        <p:nvSpPr>
          <p:cNvPr id="11" name="Text 6"/>
          <p:cNvSpPr/>
          <p:nvPr/>
        </p:nvSpPr>
        <p:spPr>
          <a:xfrm>
            <a:off x="6224432" y="4371578"/>
            <a:ext cx="2494991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Mahsulot tayyorlash — fabrika, mebel ustaxonasi</a:t>
            </a:r>
            <a:endParaRPr lang="en-US" sz="16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6592" y="2810867"/>
            <a:ext cx="1447069" cy="89435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976592" y="3962400"/>
            <a:ext cx="2495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IT va Texnologiya</a:t>
            </a:r>
            <a:endParaRPr lang="en-US" sz="1750" dirty="0"/>
          </a:p>
        </p:txBody>
      </p:sp>
      <p:sp>
        <p:nvSpPr>
          <p:cNvPr id="14" name="Text 8"/>
          <p:cNvSpPr/>
          <p:nvPr/>
        </p:nvSpPr>
        <p:spPr>
          <a:xfrm>
            <a:off x="8976592" y="4371578"/>
            <a:ext cx="2495091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Dastur, veb-sayt, mobil ilova yaratish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616347"/>
            <a:ext cx="10751670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Qanday Ishlaydi?</a:t>
            </a:r>
            <a:endParaRPr lang="en-US" sz="2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12" y="1067991"/>
            <a:ext cx="10751670" cy="47163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78378" y="4655898"/>
            <a:ext cx="1624963" cy="258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Mahsulot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978378" y="4997289"/>
            <a:ext cx="1624963" cy="36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1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Yechim – mahsulot yoki xizmat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9140501" y="4655898"/>
            <a:ext cx="1624963" cy="258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Daromad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0501" y="4997289"/>
            <a:ext cx="1624963" cy="36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1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Sotuv va biznes rivoji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454213" y="1491885"/>
            <a:ext cx="1624963" cy="258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Muammo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454213" y="1833276"/>
            <a:ext cx="1624963" cy="36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1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Ehtiyoj yoki ogʻriqni aniqlash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595646" y="1491885"/>
            <a:ext cx="1624963" cy="258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Mijoz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95646" y="1833276"/>
            <a:ext cx="1624963" cy="36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81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Maʼlumotlangan xaridorlar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20012" y="5857577"/>
            <a:ext cx="260343" cy="260350"/>
          </a:xfrm>
          <a:prstGeom prst="ellipse">
            <a:avLst/>
          </a:prstGeom>
          <a:solidFill>
            <a:srgbClr val="0A081B"/>
          </a:solidFill>
          <a:ln w="12700">
            <a:solidFill>
              <a:srgbClr val="16FF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3044" y="5891312"/>
            <a:ext cx="15428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45442" y="5897265"/>
            <a:ext cx="3204189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Muammo aniqlash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45442" y="6096992"/>
            <a:ext cx="3204189" cy="14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Odamlar biror muammoga yoki ehtiyojga ega bo'ladi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330989" y="5857577"/>
            <a:ext cx="260343" cy="260350"/>
          </a:xfrm>
          <a:prstGeom prst="ellipse">
            <a:avLst/>
          </a:prstGeom>
          <a:solidFill>
            <a:srgbClr val="0A081B"/>
          </a:solidFill>
          <a:ln w="12700">
            <a:solidFill>
              <a:srgbClr val="29DDD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84020" y="5891312"/>
            <a:ext cx="15428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56418" y="5897265"/>
            <a:ext cx="3204189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Yechim taklif qilish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656418" y="6096992"/>
            <a:ext cx="3204189" cy="14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Siz bu muammoni hal qiluvchi mahsulot yoki xizmat tayyorlaysiz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941965" y="5857577"/>
            <a:ext cx="260343" cy="260350"/>
          </a:xfrm>
          <a:prstGeom prst="ellipse">
            <a:avLst/>
          </a:prstGeom>
          <a:solidFill>
            <a:srgbClr val="0A081B"/>
          </a:solidFill>
          <a:ln w="12700">
            <a:solidFill>
              <a:srgbClr val="37A7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94996" y="5891312"/>
            <a:ext cx="15428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267394" y="5897265"/>
            <a:ext cx="3204189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Daromad olish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67394" y="6096992"/>
            <a:ext cx="3204189" cy="144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Mijozlar sotib oladilar va biznes rivojlanadi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12" y="863798"/>
            <a:ext cx="6815562" cy="386218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36022" y="836315"/>
            <a:ext cx="1706817" cy="307677"/>
          </a:xfrm>
          <a:prstGeom prst="roundRect">
            <a:avLst>
              <a:gd name="adj" fmla="val 49999"/>
            </a:avLst>
          </a:prstGeom>
          <a:solidFill>
            <a:srgbClr val="004D36"/>
          </a:solidFill>
          <a:ln/>
        </p:spPr>
      </p:sp>
      <p:sp>
        <p:nvSpPr>
          <p:cNvPr id="4" name="Text 1"/>
          <p:cNvSpPr/>
          <p:nvPr/>
        </p:nvSpPr>
        <p:spPr>
          <a:xfrm>
            <a:off x="8157462" y="897037"/>
            <a:ext cx="2073521" cy="18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2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ASOSIY TUSHUNCHA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036022" y="1223665"/>
            <a:ext cx="3441912" cy="1125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Business Model Canvas Nima?</a:t>
            </a:r>
            <a:endParaRPr lang="en-US" sz="3500" dirty="0"/>
          </a:p>
        </p:txBody>
      </p:sp>
      <p:sp>
        <p:nvSpPr>
          <p:cNvPr id="6" name="Text 3"/>
          <p:cNvSpPr/>
          <p:nvPr/>
        </p:nvSpPr>
        <p:spPr>
          <a:xfrm>
            <a:off x="8036022" y="2548136"/>
            <a:ext cx="3441912" cy="2250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Alexander Osterwalder va Yves Pigneur tomonidan 2010-yilda yaratilgan </a:t>
            </a:r>
            <a:pPr algn="l" indent="0" marL="0">
              <a:lnSpc>
                <a:spcPct val="132000"/>
              </a:lnSpc>
              <a:buNone/>
            </a:pPr>
            <a:r>
              <a:rPr lang="en-US" sz="155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Business Model Canvas</a:t>
            </a:r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biznes modelini bir sahifada tasvirlovchi vizual asbob. U biznes modelini tushunish va tahlil qilish uchun </a:t>
            </a:r>
            <a:pPr algn="l" indent="0" marL="0">
              <a:lnSpc>
                <a:spcPct val="132000"/>
              </a:lnSpc>
              <a:buNone/>
            </a:pPr>
            <a:r>
              <a:rPr lang="en-US" sz="1550" b="1" dirty="0">
                <a:solidFill>
                  <a:srgbClr val="16FFBB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9 ta asosiy blokdan</a:t>
            </a:r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iborat.</a:t>
            </a:r>
            <a:endParaRPr lang="en-US" sz="15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5913" y="5208290"/>
            <a:ext cx="303701" cy="3037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8114" y="5202039"/>
            <a:ext cx="4593118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Tez tahlil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1378114" y="5602883"/>
            <a:ext cx="4593118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Biznesning barcha muhim qismlarini bitta joyda ko'rish</a:t>
            </a:r>
            <a:endParaRPr lang="en-US" sz="15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96264" y="5208290"/>
            <a:ext cx="303701" cy="30370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878465" y="5202039"/>
            <a:ext cx="4593217" cy="281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Oson tushunish</a:t>
            </a:r>
            <a:endParaRPr lang="en-US" sz="1750" dirty="0"/>
          </a:p>
        </p:txBody>
      </p:sp>
      <p:sp>
        <p:nvSpPr>
          <p:cNvPr id="12" name="Text 7"/>
          <p:cNvSpPr/>
          <p:nvPr/>
        </p:nvSpPr>
        <p:spPr>
          <a:xfrm>
            <a:off x="6878465" y="5602883"/>
            <a:ext cx="4593217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Hamkorlar va jamoalar bilan samarali muloqot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65745"/>
            <a:ext cx="1075167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Business Model Canvas — 9 Qism</a:t>
            </a:r>
            <a:endParaRPr lang="en-US" sz="1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12" y="986433"/>
            <a:ext cx="5250426" cy="525055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7607" y="1924645"/>
            <a:ext cx="20567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Spline Sans Light" pitchFamily="34" charset="0"/>
                <a:ea typeface="Spline Sans Light" pitchFamily="34" charset="-122"/>
                <a:cs typeface="Spline Sans Light" pitchFamily="34" charset="-120"/>
              </a:rPr>
              <a:t>01</a:t>
            </a:r>
            <a:endParaRPr lang="en-US" sz="800" dirty="0"/>
          </a:p>
        </p:txBody>
      </p:sp>
      <p:sp>
        <p:nvSpPr>
          <p:cNvPr id="5" name="Shape 2"/>
          <p:cNvSpPr/>
          <p:nvPr/>
        </p:nvSpPr>
        <p:spPr>
          <a:xfrm>
            <a:off x="6227607" y="2086769"/>
            <a:ext cx="5250426" cy="12700"/>
          </a:xfrm>
          <a:prstGeom prst="rect">
            <a:avLst/>
          </a:prstGeom>
          <a:solidFill>
            <a:srgbClr val="16FFBB"/>
          </a:solidFill>
          <a:ln/>
        </p:spPr>
      </p:sp>
      <p:sp>
        <p:nvSpPr>
          <p:cNvPr id="6" name="Text 3"/>
          <p:cNvSpPr/>
          <p:nvPr/>
        </p:nvSpPr>
        <p:spPr>
          <a:xfrm>
            <a:off x="6227607" y="2163564"/>
            <a:ext cx="525042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Customer Segments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227607" y="2357834"/>
            <a:ext cx="5250426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Sizning mijozlaringiz kim?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227607" y="2609751"/>
            <a:ext cx="20567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Spline Sans Light" pitchFamily="34" charset="0"/>
                <a:ea typeface="Spline Sans Light" pitchFamily="34" charset="-122"/>
                <a:cs typeface="Spline Sans Light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227607" y="2771874"/>
            <a:ext cx="5250426" cy="12700"/>
          </a:xfrm>
          <a:prstGeom prst="rect">
            <a:avLst/>
          </a:prstGeom>
          <a:solidFill>
            <a:srgbClr val="29DDDA"/>
          </a:solidFill>
          <a:ln/>
        </p:spPr>
      </p:sp>
      <p:sp>
        <p:nvSpPr>
          <p:cNvPr id="10" name="Text 7"/>
          <p:cNvSpPr/>
          <p:nvPr/>
        </p:nvSpPr>
        <p:spPr>
          <a:xfrm>
            <a:off x="6227607" y="2848670"/>
            <a:ext cx="525042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Value Propositions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227607" y="3042940"/>
            <a:ext cx="5250426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Siz ularga nima berarsiz?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227607" y="3294856"/>
            <a:ext cx="20567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Spline Sans Light" pitchFamily="34" charset="0"/>
                <a:ea typeface="Spline Sans Light" pitchFamily="34" charset="-122"/>
                <a:cs typeface="Spline Sans Light" pitchFamily="34" charset="-120"/>
              </a:rPr>
              <a:t>03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227607" y="3456980"/>
            <a:ext cx="5250426" cy="12700"/>
          </a:xfrm>
          <a:prstGeom prst="rect">
            <a:avLst/>
          </a:prstGeom>
          <a:solidFill>
            <a:srgbClr val="37A7E7"/>
          </a:solidFill>
          <a:ln/>
        </p:spPr>
      </p:sp>
      <p:sp>
        <p:nvSpPr>
          <p:cNvPr id="14" name="Text 11"/>
          <p:cNvSpPr/>
          <p:nvPr/>
        </p:nvSpPr>
        <p:spPr>
          <a:xfrm>
            <a:off x="6227607" y="3533775"/>
            <a:ext cx="525042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Channels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227607" y="3728045"/>
            <a:ext cx="5250426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Qanday yo'l bilan ularga yetib borasiz?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6227607" y="3979962"/>
            <a:ext cx="20567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Spline Sans Light" pitchFamily="34" charset="0"/>
                <a:ea typeface="Spline Sans Light" pitchFamily="34" charset="-122"/>
                <a:cs typeface="Spline Sans Light" pitchFamily="34" charset="-120"/>
              </a:rPr>
              <a:t>04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227607" y="4142085"/>
            <a:ext cx="5250426" cy="12700"/>
          </a:xfrm>
          <a:prstGeom prst="rect">
            <a:avLst/>
          </a:prstGeom>
          <a:solidFill>
            <a:srgbClr val="091231"/>
          </a:solidFill>
          <a:ln/>
        </p:spPr>
      </p:sp>
      <p:sp>
        <p:nvSpPr>
          <p:cNvPr id="18" name="Text 15"/>
          <p:cNvSpPr/>
          <p:nvPr/>
        </p:nvSpPr>
        <p:spPr>
          <a:xfrm>
            <a:off x="6227607" y="4218880"/>
            <a:ext cx="525042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Revenue Streams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227607" y="4413151"/>
            <a:ext cx="5250426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Qayerdan daromad olasiz?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227607" y="4665067"/>
            <a:ext cx="20567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Spline Sans Light" pitchFamily="34" charset="0"/>
                <a:ea typeface="Spline Sans Light" pitchFamily="34" charset="-122"/>
                <a:cs typeface="Spline Sans Light" pitchFamily="34" charset="-120"/>
              </a:rPr>
              <a:t>05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6227607" y="4827191"/>
            <a:ext cx="5250426" cy="12700"/>
          </a:xfrm>
          <a:prstGeom prst="rect">
            <a:avLst/>
          </a:prstGeom>
          <a:solidFill>
            <a:srgbClr val="16FFBB"/>
          </a:solidFill>
          <a:ln/>
        </p:spPr>
      </p:sp>
      <p:sp>
        <p:nvSpPr>
          <p:cNvPr id="22" name="Text 19"/>
          <p:cNvSpPr/>
          <p:nvPr/>
        </p:nvSpPr>
        <p:spPr>
          <a:xfrm>
            <a:off x="6227607" y="4903986"/>
            <a:ext cx="525042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Cost Structure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227607" y="5098256"/>
            <a:ext cx="5250426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Xarajatlar qancha?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650677"/>
            <a:ext cx="1075167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5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Amaliy Misol: Onlayn Ta'lim Kursi</a:t>
            </a:r>
            <a:endParaRPr lang="en-US" sz="3550" dirty="0"/>
          </a:p>
        </p:txBody>
      </p:sp>
      <p:sp>
        <p:nvSpPr>
          <p:cNvPr id="3" name="Text 1"/>
          <p:cNvSpPr/>
          <p:nvPr/>
        </p:nvSpPr>
        <p:spPr>
          <a:xfrm>
            <a:off x="720012" y="1633637"/>
            <a:ext cx="11361255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Business Model Canvas</a:t>
            </a:r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asosida onlayn ta'lim biznesini ko'rib chiqamiz: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20012" y="2194223"/>
            <a:ext cx="5272948" cy="1200547"/>
          </a:xfrm>
          <a:prstGeom prst="roundRect">
            <a:avLst>
              <a:gd name="adj" fmla="val 25705"/>
            </a:avLst>
          </a:prstGeom>
          <a:solidFill>
            <a:srgbClr val="0A081B"/>
          </a:solidFill>
          <a:ln w="25399">
            <a:solidFill>
              <a:srgbClr val="16FFB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1087" y="2425303"/>
            <a:ext cx="48107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Mijozlar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951087" y="2834481"/>
            <a:ext cx="4810798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O'quvchilar, talabalar, kattalar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98636" y="2194223"/>
            <a:ext cx="5273047" cy="1200547"/>
          </a:xfrm>
          <a:prstGeom prst="roundRect">
            <a:avLst>
              <a:gd name="adj" fmla="val 25705"/>
            </a:avLst>
          </a:prstGeom>
          <a:solidFill>
            <a:srgbClr val="0A081B"/>
          </a:solidFill>
          <a:ln w="25399">
            <a:solidFill>
              <a:srgbClr val="29DD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9710" y="2425303"/>
            <a:ext cx="48108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Qiymat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429710" y="2834481"/>
            <a:ext cx="4810898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Sifatli ta'lim, o'z vaqtida o'qish imkoniyati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0012" y="3600450"/>
            <a:ext cx="5272948" cy="1200547"/>
          </a:xfrm>
          <a:prstGeom prst="roundRect">
            <a:avLst>
              <a:gd name="adj" fmla="val 25705"/>
            </a:avLst>
          </a:prstGeom>
          <a:solidFill>
            <a:srgbClr val="0A081B"/>
          </a:solidFill>
          <a:ln w="25399">
            <a:solidFill>
              <a:srgbClr val="37A7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1087" y="3831530"/>
            <a:ext cx="48107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Kanallar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951087" y="4240709"/>
            <a:ext cx="4810798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Veb-sayt, mobil ilova, YouTube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8636" y="3600450"/>
            <a:ext cx="5273047" cy="1200547"/>
          </a:xfrm>
          <a:prstGeom prst="roundRect">
            <a:avLst>
              <a:gd name="adj" fmla="val 25705"/>
            </a:avLst>
          </a:prstGeom>
          <a:solidFill>
            <a:srgbClr val="0A081B"/>
          </a:solidFill>
          <a:ln w="25399">
            <a:solidFill>
              <a:srgbClr val="0912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29710" y="3831530"/>
            <a:ext cx="48108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Daromad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6429710" y="4240709"/>
            <a:ext cx="4810898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Kurs to'lovi, obuna, sertifikat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20012" y="5006677"/>
            <a:ext cx="5272948" cy="1200547"/>
          </a:xfrm>
          <a:prstGeom prst="roundRect">
            <a:avLst>
              <a:gd name="adj" fmla="val 25705"/>
            </a:avLst>
          </a:prstGeom>
          <a:solidFill>
            <a:srgbClr val="0A081B"/>
          </a:solidFill>
          <a:ln w="25399">
            <a:solidFill>
              <a:srgbClr val="16FF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1087" y="5237758"/>
            <a:ext cx="48107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Resurslar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951087" y="5646936"/>
            <a:ext cx="4810798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O'qituvchilar, server, kontent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98636" y="5006677"/>
            <a:ext cx="5273047" cy="1200547"/>
          </a:xfrm>
          <a:prstGeom prst="roundRect">
            <a:avLst>
              <a:gd name="adj" fmla="val 25705"/>
            </a:avLst>
          </a:prstGeom>
          <a:solidFill>
            <a:srgbClr val="0A081B"/>
          </a:solidFill>
          <a:ln w="25399">
            <a:solidFill>
              <a:srgbClr val="29DD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9710" y="5237758"/>
            <a:ext cx="48108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Xarajatlar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6429710" y="5646936"/>
            <a:ext cx="4810898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Server, o'qituvchi maoshi, reklama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1186656"/>
            <a:ext cx="3462251" cy="1053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BPM va Biznes Jarayoni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1004465" y="2594372"/>
            <a:ext cx="3177798" cy="1458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Business Process Management (BPM)</a:t>
            </a:r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— biznes faoliyatini modellashtirish, avtomatlashtirish, nazorat qilish va takomillashtirish uchun ishlatiladigan intizomli yondashuv.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20012" y="2437011"/>
            <a:ext cx="25399" cy="1772741"/>
          </a:xfrm>
          <a:prstGeom prst="roundRect">
            <a:avLst>
              <a:gd name="adj" fmla="val 50001"/>
            </a:avLst>
          </a:prstGeom>
          <a:solidFill>
            <a:srgbClr val="16FFB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1358" y="774898"/>
            <a:ext cx="6826575" cy="38684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12" y="5036641"/>
            <a:ext cx="474155" cy="47416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2641" y="5036641"/>
            <a:ext cx="2745612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jarayoni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412641" y="5404941"/>
            <a:ext cx="2745612" cy="583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Biror maqsadga erishish uchun ketma-ket bajariluvchi ishlar</a:t>
            </a:r>
            <a:endParaRPr lang="en-US" sz="14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76727" y="5036641"/>
            <a:ext cx="474155" cy="47416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069356" y="5036641"/>
            <a:ext cx="2745612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Jarayonlar xaritasi</a:t>
            </a:r>
            <a:endParaRPr lang="en-US" sz="1650" dirty="0"/>
          </a:p>
        </p:txBody>
      </p:sp>
      <p:sp>
        <p:nvSpPr>
          <p:cNvPr id="11" name="Text 6"/>
          <p:cNvSpPr/>
          <p:nvPr/>
        </p:nvSpPr>
        <p:spPr>
          <a:xfrm>
            <a:off x="5069356" y="5404941"/>
            <a:ext cx="2745612" cy="583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Har bir bosqichni diagramma ko'rinishida tasvirlovchi sxema</a:t>
            </a:r>
            <a:endParaRPr lang="en-US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33442" y="5036641"/>
            <a:ext cx="474155" cy="47416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726071" y="5036641"/>
            <a:ext cx="2745612" cy="2634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Nima uchun kerak?</a:t>
            </a:r>
            <a:endParaRPr lang="en-US" sz="1650" dirty="0"/>
          </a:p>
        </p:txBody>
      </p:sp>
      <p:sp>
        <p:nvSpPr>
          <p:cNvPr id="14" name="Text 8"/>
          <p:cNvSpPr/>
          <p:nvPr/>
        </p:nvSpPr>
        <p:spPr>
          <a:xfrm>
            <a:off x="8726071" y="5404941"/>
            <a:ext cx="2745612" cy="8748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Ishlarni tezlashtirish, xatolarni kamaytirish, samaradorlikni oshirish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12" y="565745"/>
            <a:ext cx="1075167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Jarayoni Xaritasi: Onlayn Buyurtma</a:t>
            </a:r>
            <a:endParaRPr lang="en-US" sz="175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12" y="954286"/>
            <a:ext cx="10751670" cy="48383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9601" y="1100314"/>
            <a:ext cx="1881515" cy="516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Mijoz buyurtma beradi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2339601" y="1699932"/>
            <a:ext cx="1881515" cy="348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7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Onlayn formani to'ldiradi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4200440" y="4729041"/>
            <a:ext cx="1891853" cy="516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Buyurtma qabul qilinadi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200440" y="5328660"/>
            <a:ext cx="1891853" cy="348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7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Buyurtma tizimga yoziladi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040604" y="1193358"/>
            <a:ext cx="1881515" cy="258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To'lov tekshiriladi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040604" y="1534520"/>
            <a:ext cx="1881515" cy="348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7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To'lov maydoni nazorat qilinadi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901443" y="4729041"/>
            <a:ext cx="1881515" cy="516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Mahsulot tayyorlanadi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901443" y="5328660"/>
            <a:ext cx="1881515" cy="3489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78000"/>
              </a:lnSpc>
              <a:buNone/>
            </a:pPr>
            <a:r>
              <a:rPr lang="en-US" sz="145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Paketlash va tayyorlash ishlari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20012" y="5850434"/>
            <a:ext cx="10751670" cy="528141"/>
          </a:xfrm>
          <a:prstGeom prst="roundRect">
            <a:avLst>
              <a:gd name="adj" fmla="val 29216"/>
            </a:avLst>
          </a:prstGeom>
          <a:solidFill>
            <a:srgbClr val="0A081B"/>
          </a:solidFill>
          <a:ln w="12700">
            <a:solidFill>
              <a:srgbClr val="16FFB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2712" y="5863134"/>
            <a:ext cx="3575357" cy="502741"/>
          </a:xfrm>
          <a:custGeom>
            <a:avLst/>
            <a:gdLst/>
            <a:ahLst/>
            <a:cxnLst/>
            <a:rect l="l" t="t" r="r" b="b"/>
            <a:pathLst>
              <a:path w="3575357" h="502741">
                <a:moveTo>
                  <a:pt x="128584" y="0"/>
                </a:moveTo>
                <a:lnTo>
                  <a:pt x="3575357" y="0"/>
                </a:lnTo>
                <a:lnTo>
                  <a:pt x="3575357" y="502741"/>
                </a:lnTo>
                <a:lnTo>
                  <a:pt x="128584" y="502741"/>
                </a:lnTo>
                <a:arcTo hR="128588" wR="128584" stAng="5400000" swAng="5400000"/>
                <a:lnTo>
                  <a:pt x="0" y="128588"/>
                </a:lnTo>
                <a:arcTo hR="128588" wR="128584" stAng="10800000" swAng="5400000"/>
                <a:close/>
              </a:path>
            </a:pathLst>
          </a:custGeom>
          <a:solidFill>
            <a:srgbClr val="0A081B"/>
          </a:solidFill>
          <a:ln/>
        </p:spPr>
      </p:sp>
      <p:sp>
        <p:nvSpPr>
          <p:cNvPr id="14" name="Text 11"/>
          <p:cNvSpPr/>
          <p:nvPr/>
        </p:nvSpPr>
        <p:spPr>
          <a:xfrm>
            <a:off x="835500" y="5965924"/>
            <a:ext cx="336978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Ketma-ketlik muhim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35500" y="6139656"/>
            <a:ext cx="3369781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Har bir bosqich muhim va ketma-ket bajariladi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308070" y="5863134"/>
            <a:ext cx="3575457" cy="502741"/>
          </a:xfrm>
          <a:prstGeom prst="rect">
            <a:avLst/>
          </a:prstGeom>
          <a:solidFill>
            <a:srgbClr val="0A081B"/>
          </a:solidFill>
          <a:ln/>
        </p:spPr>
      </p:sp>
      <p:sp>
        <p:nvSpPr>
          <p:cNvPr id="17" name="Shape 14"/>
          <p:cNvSpPr/>
          <p:nvPr/>
        </p:nvSpPr>
        <p:spPr>
          <a:xfrm>
            <a:off x="4308070" y="5863134"/>
            <a:ext cx="12700" cy="502741"/>
          </a:xfrm>
          <a:prstGeom prst="roundRect">
            <a:avLst>
              <a:gd name="adj" fmla="val 49999"/>
            </a:avLst>
          </a:prstGeom>
          <a:solidFill>
            <a:srgbClr val="0FC3C0"/>
          </a:solidFill>
          <a:ln/>
        </p:spPr>
      </p:sp>
      <p:sp>
        <p:nvSpPr>
          <p:cNvPr id="18" name="Text 15"/>
          <p:cNvSpPr/>
          <p:nvPr/>
        </p:nvSpPr>
        <p:spPr>
          <a:xfrm>
            <a:off x="4410858" y="5965924"/>
            <a:ext cx="336988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Muammo ta'siri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410858" y="6139656"/>
            <a:ext cx="3369881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Agar biror bosqichda muammo bo'lsa, butun jarayon sekinlashadi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7883526" y="5863134"/>
            <a:ext cx="3575457" cy="502741"/>
          </a:xfrm>
          <a:custGeom>
            <a:avLst/>
            <a:gdLst/>
            <a:ahLst/>
            <a:cxnLst/>
            <a:rect l="l" t="t" r="r" b="b"/>
            <a:pathLst>
              <a:path w="3575457" h="502741">
                <a:moveTo>
                  <a:pt x="0" y="0"/>
                </a:moveTo>
                <a:lnTo>
                  <a:pt x="3446872" y="0"/>
                </a:lnTo>
                <a:arcTo hR="128588" wR="128584" stAng="16200000" swAng="5400000"/>
                <a:lnTo>
                  <a:pt x="3575457" y="374154"/>
                </a:lnTo>
                <a:arcTo hR="128588" wR="128584" stAng="0" swAng="5400000"/>
                <a:lnTo>
                  <a:pt x="0" y="502741"/>
                </a:lnTo>
                <a:lnTo>
                  <a:pt x="0" y="0"/>
                </a:lnTo>
                <a:close/>
              </a:path>
            </a:pathLst>
          </a:custGeom>
          <a:solidFill>
            <a:srgbClr val="0A081B"/>
          </a:solidFill>
          <a:ln/>
        </p:spPr>
      </p:sp>
      <p:sp>
        <p:nvSpPr>
          <p:cNvPr id="21" name="Shape 18"/>
          <p:cNvSpPr/>
          <p:nvPr/>
        </p:nvSpPr>
        <p:spPr>
          <a:xfrm>
            <a:off x="7883526" y="5863134"/>
            <a:ext cx="12700" cy="502741"/>
          </a:xfrm>
          <a:prstGeom prst="roundRect">
            <a:avLst>
              <a:gd name="adj" fmla="val 49999"/>
            </a:avLst>
          </a:prstGeom>
          <a:solidFill>
            <a:srgbClr val="1D8DCD"/>
          </a:solidFill>
          <a:ln/>
        </p:spPr>
      </p:sp>
      <p:sp>
        <p:nvSpPr>
          <p:cNvPr id="22" name="Text 19"/>
          <p:cNvSpPr/>
          <p:nvPr/>
        </p:nvSpPr>
        <p:spPr>
          <a:xfrm>
            <a:off x="7986314" y="5965924"/>
            <a:ext cx="336988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BPM yechimi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7986314" y="6139656"/>
            <a:ext cx="3369881" cy="123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BPM orqali har bir bosqichni takomillashtirish mumkin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0012" y="576461"/>
            <a:ext cx="6179784" cy="3661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F0FCFF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Xulosa: Bugun Nimalarni Tushundim?</a:t>
            </a:r>
            <a:endParaRPr lang="en-US" sz="23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12" y="1069181"/>
            <a:ext cx="6179784" cy="10845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730780" y="1168003"/>
            <a:ext cx="158151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870821" y="1596330"/>
            <a:ext cx="5878167" cy="183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Biznes va Tadbirkorlik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870821" y="1829991"/>
            <a:ext cx="5878167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Biznes — tijorat faoliyati; tadbirkorlik — innovatsiya va tavakkalchilik bilan faoliyat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0012" y="2238177"/>
            <a:ext cx="6179784" cy="10845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30780" y="2336998"/>
            <a:ext cx="158151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870821" y="2765326"/>
            <a:ext cx="5878167" cy="183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Business Model Canvas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870821" y="2998986"/>
            <a:ext cx="5878167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Biznes modelini 9 ta blokda tasvirlovchi vizual asbob — tez tahlil va oson tushunish uchun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20012" y="3407172"/>
            <a:ext cx="6179784" cy="108456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730780" y="3505994"/>
            <a:ext cx="158151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870821" y="3934321"/>
            <a:ext cx="5878167" cy="183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BPM</a:t>
            </a:r>
            <a:endParaRPr lang="en-US" sz="1150" dirty="0"/>
          </a:p>
        </p:txBody>
      </p:sp>
      <p:sp>
        <p:nvSpPr>
          <p:cNvPr id="15" name="Text 9"/>
          <p:cNvSpPr/>
          <p:nvPr/>
        </p:nvSpPr>
        <p:spPr>
          <a:xfrm>
            <a:off x="870821" y="4167981"/>
            <a:ext cx="5878167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Biznes jarayonlarini tahlil qilib, takomillashtirish va avtomatlashtirish intizomi</a:t>
            </a:r>
            <a:endParaRPr lang="en-US" sz="10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0012" y="4576167"/>
            <a:ext cx="6179784" cy="10845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730780" y="4674989"/>
            <a:ext cx="158151" cy="1976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1"/>
          <p:cNvSpPr/>
          <p:nvPr/>
        </p:nvSpPr>
        <p:spPr>
          <a:xfrm>
            <a:off x="870821" y="5103316"/>
            <a:ext cx="5878167" cy="183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E0E4E6"/>
                </a:solidFill>
                <a:latin typeface="Spline Sans Bold" pitchFamily="34" charset="0"/>
                <a:ea typeface="Spline Sans Bold" pitchFamily="34" charset="-122"/>
                <a:cs typeface="Spline Sans Bold" pitchFamily="34" charset="-120"/>
              </a:rPr>
              <a:t>Amaliy qo'llanish</a:t>
            </a: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870821" y="5336977"/>
            <a:ext cx="5878167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Har qanday biznesda Canvas va BPM dan foydalanib, samaradorlikni oshirish mumkin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720012" y="5788620"/>
            <a:ext cx="6179784" cy="19050"/>
          </a:xfrm>
          <a:prstGeom prst="roundRect">
            <a:avLst>
              <a:gd name="adj" fmla="val 49999"/>
            </a:avLst>
          </a:prstGeom>
          <a:solidFill>
            <a:srgbClr val="E0E4E6">
              <a:alpha val="50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720012" y="5935563"/>
            <a:ext cx="6179784" cy="345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1000" b="1" dirty="0">
                <a:solidFill>
                  <a:srgbClr val="E0E4E6"/>
                </a:solidFill>
                <a:latin typeface="Barlow Bold" pitchFamily="34" charset="0"/>
                <a:ea typeface="Barlow Bold" pitchFamily="34" charset="-122"/>
                <a:cs typeface="Barlow Bold" pitchFamily="34" charset="-120"/>
              </a:rPr>
              <a:t>Foydalanilgan manbalar:</a:t>
            </a:r>
            <a:pPr algn="l" indent="0" marL="0">
              <a:lnSpc>
                <a:spcPct val="109000"/>
              </a:lnSpc>
              <a:buNone/>
            </a:pPr>
            <a:r>
              <a:rPr lang="en-US" sz="1000" dirty="0">
                <a:solidFill>
                  <a:srgbClr val="E0E4E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Business Model Canvas — MindTools, Shopify, Wikipedia  |  BPM ta'rifi — Workflow Management Coalition, IBM, Microsoft  |  Tadbirkorlik — O'zbekiston Respublikasi manbalari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2026-09-26T13:12:17Z</dcterms:created>
  <dcterms:modified xsi:type="dcterms:W3CDTF">2026-09-26T13:12:17Z</dcterms:modified>
</cp:coreProperties>
</file>